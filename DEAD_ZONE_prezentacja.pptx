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9CCC65">
              <a:alpha val="12000"/>
            </a:srgbClr>
          </a:solidFill>
          <a:ln w="12700">
            <a:solidFill>
              <a:srgbClr val="9CCC6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C62828">
              <a:alpha val="10000"/>
            </a:srgbClr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 FILE 0427-A   //   STATUS: OUTBREAK ACTIVE   //   SAFEZONE: COMPROMISED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spc="1200" kern="0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DEAD ZONE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 DEFENSE   |   ZOMBIE APOCALYPSE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13716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C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Broń się. Buduj. Przetrwaj kolejną falę.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PREZENTACJA PROJEKTU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Opis fabuły   </a:t>
            </a:r>
            <a:pPr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</a:t>
            </a:r>
            <a:pPr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Widżety   </a:t>
            </a:r>
            <a:pPr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</a:t>
            </a:r>
            <a:pPr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Interakcje   </a:t>
            </a:r>
            <a:pPr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</a:t>
            </a:r>
            <a:pPr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Funkcjonalności   </a:t>
            </a:r>
            <a:pPr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</a:t>
            </a:r>
            <a:pPr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Makiety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Opis fabuły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STORY &amp; GAMEPLAY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583680" cy="448056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448056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ROK 2031 — UPADEK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Wirus przedostał się poza laboratorium kilka lat temu. Większość świata leży w gruzach, a miasta zostały opanowane przez hordy zombie. Garstka ocalałych broni się w prowizorycznych umocnieniach na rogatkach miast.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 wciela się w dowódcę takiej placówki. Zadaniem jest rozstawienie wieżyczek bojowych wzdłuż jedynej drogi prowadzącej do bazy i powstrzymanie kolejnych fal nieumarłych zanim dotrą do bramy.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KLUCZOWE ZAŁOŻENIA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2057400"/>
            <a:ext cx="4389120" cy="713232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057400"/>
            <a:ext cx="54864" cy="71323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GATUNEK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79792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Defense 2D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0" y="2862072"/>
            <a:ext cx="4389120" cy="713232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862072"/>
            <a:ext cx="54864" cy="71323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2935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PERSPEKTYWA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79792" y="3182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rzut izometryczny / z góry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0" y="3666744"/>
            <a:ext cx="4389120" cy="713232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3666744"/>
            <a:ext cx="54864" cy="71323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3739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PRZECIWNICY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79792" y="39867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typy zombie (fale)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4471416"/>
            <a:ext cx="4389120" cy="713232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4471416"/>
            <a:ext cx="54864" cy="71323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9792" y="4544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ŚCIEŻKA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79792" y="47914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stała, wyznaczona trasa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5276088"/>
            <a:ext cx="4389120" cy="713232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5276088"/>
            <a:ext cx="54864" cy="71323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9792" y="5349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PRZEGRANA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79792" y="5596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zombie dojdzie do bazy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ZONE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Postacie — przeciwnicy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WIDŻETY ▸ ZOMBIE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45720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697480" cy="16459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7340" y="1965960"/>
            <a:ext cx="640080" cy="640080"/>
          </a:xfrm>
          <a:prstGeom prst="ellipse">
            <a:avLst/>
          </a:prstGeom>
          <a:solidFill>
            <a:srgbClr val="9CCC65">
              <a:alpha val="70000"/>
            </a:srgbClr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4500" y="2194560"/>
            <a:ext cx="73152" cy="73152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7108" y="2194560"/>
            <a:ext cx="73152" cy="73152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1348" y="2670048"/>
            <a:ext cx="512064" cy="548640"/>
          </a:xfrm>
          <a:prstGeom prst="rect">
            <a:avLst/>
          </a:prstGeom>
          <a:solidFill>
            <a:srgbClr val="9CCC65">
              <a:alpha val="50000"/>
            </a:srgbClr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4460" y="2788920"/>
            <a:ext cx="246888" cy="118872"/>
          </a:xfrm>
          <a:prstGeom prst="rect">
            <a:avLst/>
          </a:prstGeom>
          <a:solidFill>
            <a:srgbClr val="9CCC65">
              <a:alpha val="70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53412" y="2788920"/>
            <a:ext cx="246888" cy="118872"/>
          </a:xfrm>
          <a:prstGeom prst="rect">
            <a:avLst/>
          </a:prstGeom>
          <a:solidFill>
            <a:srgbClr val="9CCC65">
              <a:alpha val="70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ZWYKŁY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402336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Podstawowy typ. Wolny, niewielka odporność. Pojawia się w każdej fali masowo.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5733288"/>
            <a:ext cx="2331720" cy="73152"/>
          </a:xfrm>
          <a:prstGeom prst="rect">
            <a:avLst/>
          </a:prstGeom>
          <a:solidFill>
            <a:srgbClr val="3A453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733288"/>
            <a:ext cx="23317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852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PRĘDKOŚĆ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5852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6053328"/>
            <a:ext cx="2331720" cy="73152"/>
          </a:xfrm>
          <a:prstGeom prst="rect">
            <a:avLst/>
          </a:prstGeom>
          <a:solidFill>
            <a:srgbClr val="3A453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6053328"/>
            <a:ext cx="582930" cy="7315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1600200"/>
            <a:ext cx="2697480" cy="45720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1600200"/>
            <a:ext cx="2697480" cy="16459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57700" y="1965960"/>
            <a:ext cx="640080" cy="640080"/>
          </a:xfrm>
          <a:prstGeom prst="ellipse">
            <a:avLst/>
          </a:prstGeom>
          <a:solidFill>
            <a:srgbClr val="EF5350">
              <a:alpha val="70000"/>
            </a:srgbClr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4860" y="2194560"/>
            <a:ext cx="73152" cy="73152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7468" y="2194560"/>
            <a:ext cx="73152" cy="73152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1708" y="2670048"/>
            <a:ext cx="512064" cy="548640"/>
          </a:xfrm>
          <a:prstGeom prst="rect">
            <a:avLst/>
          </a:prstGeom>
          <a:solidFill>
            <a:srgbClr val="EF5350">
              <a:alpha val="50000"/>
            </a:srgbClr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4820" y="2788920"/>
            <a:ext cx="246888" cy="118872"/>
          </a:xfrm>
          <a:prstGeom prst="rect">
            <a:avLst/>
          </a:prstGeom>
          <a:solidFill>
            <a:srgbClr val="EF5350">
              <a:alpha val="7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33772" y="2788920"/>
            <a:ext cx="246888" cy="118872"/>
          </a:xfrm>
          <a:prstGeom prst="rect">
            <a:avLst/>
          </a:prstGeom>
          <a:solidFill>
            <a:srgbClr val="EF5350">
              <a:alpha val="7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RUNNER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42900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93592" y="402336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Bardzo szybki, słabo opancerzony. Wymaga wieżyczek o wysokiej szybkostrzelności.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11880" y="5532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11880" y="55321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11880" y="5733288"/>
            <a:ext cx="2331720" cy="73152"/>
          </a:xfrm>
          <a:prstGeom prst="rect">
            <a:avLst/>
          </a:prstGeom>
          <a:solidFill>
            <a:srgbClr val="3A453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1880" y="5733288"/>
            <a:ext cx="155448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5852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PRĘDKOŚĆ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11880" y="5852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11880" y="6053328"/>
            <a:ext cx="2331720" cy="73152"/>
          </a:xfrm>
          <a:prstGeom prst="rect">
            <a:avLst/>
          </a:prstGeom>
          <a:solidFill>
            <a:srgbClr val="3A453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11880" y="6053328"/>
            <a:ext cx="2331720" cy="7315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1600200"/>
            <a:ext cx="2697480" cy="45720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1600200"/>
            <a:ext cx="2697480" cy="16459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38060" y="1965960"/>
            <a:ext cx="640080" cy="640080"/>
          </a:xfrm>
          <a:prstGeom prst="ellipse">
            <a:avLst/>
          </a:prstGeom>
          <a:solidFill>
            <a:srgbClr val="90A4AE">
              <a:alpha val="70000"/>
            </a:srgbClr>
          </a:solidFill>
          <a:ln w="25400">
            <a:solidFill>
              <a:srgbClr val="90A4A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75220" y="2194560"/>
            <a:ext cx="73152" cy="73152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67828" y="2194560"/>
            <a:ext cx="73152" cy="73152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2068" y="2670048"/>
            <a:ext cx="512064" cy="548640"/>
          </a:xfrm>
          <a:prstGeom prst="rect">
            <a:avLst/>
          </a:prstGeom>
          <a:solidFill>
            <a:srgbClr val="90A4AE">
              <a:alpha val="50000"/>
            </a:srgbClr>
          </a:solidFill>
          <a:ln w="25400">
            <a:solidFill>
              <a:srgbClr val="90A4A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788920"/>
            <a:ext cx="246888" cy="118872"/>
          </a:xfrm>
          <a:prstGeom prst="rect">
            <a:avLst/>
          </a:prstGeom>
          <a:solidFill>
            <a:srgbClr val="90A4AE">
              <a:alpha val="70000"/>
            </a:srgbClr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14132" y="2788920"/>
            <a:ext cx="246888" cy="118872"/>
          </a:xfrm>
          <a:prstGeom prst="rect">
            <a:avLst/>
          </a:prstGeom>
          <a:solidFill>
            <a:srgbClr val="90A4AE">
              <a:alpha val="70000"/>
            </a:srgbClr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ARMORED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30936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Pancerniak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73952" y="402336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Pokryty resztkami zbroi. Odporny na karabiny, podatny na obrażenia przebijające.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92240" y="5532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92240" y="55321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92240" y="5733288"/>
            <a:ext cx="2331720" cy="73152"/>
          </a:xfrm>
          <a:prstGeom prst="rect">
            <a:avLst/>
          </a:prstGeom>
          <a:solidFill>
            <a:srgbClr val="3A453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92240" y="5733288"/>
            <a:ext cx="699516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5852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PRĘDKOŚĆ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92240" y="5852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92240" y="6053328"/>
            <a:ext cx="2331720" cy="73152"/>
          </a:xfrm>
          <a:prstGeom prst="rect">
            <a:avLst/>
          </a:prstGeom>
          <a:solidFill>
            <a:srgbClr val="3A453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6053328"/>
            <a:ext cx="582930" cy="7315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89720" y="1600200"/>
            <a:ext cx="2697480" cy="45720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9720" y="1600200"/>
            <a:ext cx="2697480" cy="1645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18420" y="1965960"/>
            <a:ext cx="640080" cy="640080"/>
          </a:xfrm>
          <a:prstGeom prst="ellipse">
            <a:avLst/>
          </a:prstGeom>
          <a:solidFill>
            <a:srgbClr val="FFB300">
              <a:alpha val="70000"/>
            </a:srgbClr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355580" y="2194560"/>
            <a:ext cx="73152" cy="73152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48188" y="2194560"/>
            <a:ext cx="73152" cy="73152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82428" y="2670048"/>
            <a:ext cx="512064" cy="548640"/>
          </a:xfrm>
          <a:prstGeom prst="rect">
            <a:avLst/>
          </a:prstGeom>
          <a:solidFill>
            <a:srgbClr val="FFB300">
              <a:alpha val="50000"/>
            </a:srgbClr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35540" y="2788920"/>
            <a:ext cx="246888" cy="118872"/>
          </a:xfrm>
          <a:prstGeom prst="rect">
            <a:avLst/>
          </a:prstGeom>
          <a:solidFill>
            <a:srgbClr val="FFB300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794492" y="2788920"/>
            <a:ext cx="246888" cy="118872"/>
          </a:xfrm>
          <a:prstGeom prst="rect">
            <a:avLst/>
          </a:prstGeom>
          <a:solidFill>
            <a:srgbClr val="FFB300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8972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TANK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91897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Kolos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354312" y="402336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Olbrzym z dużą pulą zdrowia. Powolny, ale jego przejście oznacza utratę życia.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372600" y="5532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372600" y="55321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372600" y="5733288"/>
            <a:ext cx="2331720" cy="73152"/>
          </a:xfrm>
          <a:prstGeom prst="rect">
            <a:avLst/>
          </a:prstGeom>
          <a:solidFill>
            <a:srgbClr val="3A453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72600" y="5733288"/>
            <a:ext cx="233172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72600" y="5852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PRĘDKOŚĆ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372600" y="5852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372600" y="6053328"/>
            <a:ext cx="2331720" cy="73152"/>
          </a:xfrm>
          <a:prstGeom prst="rect">
            <a:avLst/>
          </a:prstGeom>
          <a:solidFill>
            <a:srgbClr val="3A453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72600" y="6053328"/>
            <a:ext cx="291465" cy="7315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580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ZONE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Wieżyczki, bonusy, sceneria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WIDŻETY ▸ POZOSTAŁE ELEMENTY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WIEŻYCZKI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577840" cy="64008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084832"/>
            <a:ext cx="411480" cy="411480"/>
          </a:xfrm>
          <a:prstGeom prst="ellipse">
            <a:avLst/>
          </a:prstGeom>
          <a:solidFill>
            <a:srgbClr val="9CCC65">
              <a:alpha val="30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203704"/>
            <a:ext cx="164592" cy="16459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Karabin maszynowy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295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Tani, wysoka szybkostrzelność, niskie obrażenia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5577840" cy="64008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98064"/>
            <a:ext cx="411480" cy="411480"/>
          </a:xfrm>
          <a:prstGeom prst="ellipse">
            <a:avLst/>
          </a:prstGeom>
          <a:solidFill>
            <a:srgbClr val="9CCC65">
              <a:alpha val="30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916936"/>
            <a:ext cx="164592" cy="16459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Snajper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0083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Wysokie obrażenia, długi zasięg, wolne przeładowanie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5577840" cy="64008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511296"/>
            <a:ext cx="411480" cy="411480"/>
          </a:xfrm>
          <a:prstGeom prst="ellipse">
            <a:avLst/>
          </a:prstGeom>
          <a:solidFill>
            <a:srgbClr val="9CCC65">
              <a:alpha val="30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630168"/>
            <a:ext cx="164592" cy="16459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Wyrzutnia rakiet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721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Obrażenia obszarowe (AoE), świetna na grupy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05656"/>
            <a:ext cx="5577840" cy="64008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224528"/>
            <a:ext cx="411480" cy="411480"/>
          </a:xfrm>
          <a:prstGeom prst="ellipse">
            <a:avLst/>
          </a:prstGeom>
          <a:solidFill>
            <a:srgbClr val="9CCC65">
              <a:alpha val="30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343400"/>
            <a:ext cx="164592" cy="16459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1513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Miotacz ognia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434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 zasięg, ciągłe obrażenia w czasie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18888"/>
            <a:ext cx="5577840" cy="64008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937760"/>
            <a:ext cx="411480" cy="411480"/>
          </a:xfrm>
          <a:prstGeom prst="ellipse">
            <a:avLst/>
          </a:prstGeom>
          <a:solidFill>
            <a:srgbClr val="9CCC65">
              <a:alpha val="30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056632"/>
            <a:ext cx="164592" cy="164592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864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Wieża spowalniająca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5148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obrażeń, spowalnia przeciwników w zasięgu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BONUSY (DROP Z ZOMBIE)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1965960"/>
            <a:ext cx="1764792" cy="13716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1965960"/>
            <a:ext cx="1764792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2148840"/>
            <a:ext cx="502920" cy="502920"/>
          </a:xfrm>
          <a:prstGeom prst="ellipse">
            <a:avLst/>
          </a:prstGeom>
          <a:solidFill>
            <a:srgbClr val="FFB300">
              <a:alpha val="25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157984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92240" y="274320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Pakiet amunicji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299923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Dodatkowa waluta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57032" y="1965960"/>
            <a:ext cx="1764792" cy="13716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57032" y="1965960"/>
            <a:ext cx="1764792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97112" y="2148840"/>
            <a:ext cx="502920" cy="502920"/>
          </a:xfrm>
          <a:prstGeom prst="ellipse">
            <a:avLst/>
          </a:prstGeom>
          <a:solidFill>
            <a:srgbClr val="FFB300">
              <a:alpha val="25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57032" y="2157984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348472" y="274320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Apteczka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48472" y="299923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Przywraca 1 punkt życia bazy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113264" y="1965960"/>
            <a:ext cx="1764792" cy="13716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13264" y="1965960"/>
            <a:ext cx="1764792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53344" y="2148840"/>
            <a:ext cx="502920" cy="502920"/>
          </a:xfrm>
          <a:prstGeom prst="ellipse">
            <a:avLst/>
          </a:prstGeom>
          <a:solidFill>
            <a:srgbClr val="FFB300">
              <a:alpha val="25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13264" y="2157984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0204704" y="274320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Granat EMP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04704" y="299923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Ogłusza wszystkich na 3 sek.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SCENERIA / TŁO MAPY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0" y="3977640"/>
            <a:ext cx="5330952" cy="219456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83680" y="4224528"/>
            <a:ext cx="109728" cy="10972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Asfaltowa droga (ścieżka zombie)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583680" y="4636008"/>
            <a:ext cx="109728" cy="10972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Ruiny budynków, wraki samochodów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583680" y="5047488"/>
            <a:ext cx="109728" cy="10972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1228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Zniszczone latarnie, bilbordy, barierki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583680" y="5458968"/>
            <a:ext cx="109728" cy="10972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Trawa, betonowe place — strefy budowy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583680" y="5870448"/>
            <a:ext cx="109728" cy="10972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12280" y="5760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Brama bazy — punkt końcowy ścieżki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ZONE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Sposób interakcji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 CONTROLS ▸ COLLISIONS ▸ BONUSES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45720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45720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STEROWANIE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5915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LPM na slot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651760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rozwija menu wyboru wieżyczki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2004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LPM na wieżę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3493008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ulepszeń / sprzedaży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0416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/ ESC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" y="4334256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anuluje akcję / pauza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9744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88289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Spacja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" y="5175504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rozpoczyna kolejną falę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650992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572414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" y="6016752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mapy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1691640"/>
            <a:ext cx="3657600" cy="457200"/>
          </a:xfrm>
          <a:prstGeom prst="rect">
            <a:avLst/>
          </a:prstGeom>
          <a:solidFill>
            <a:srgbClr val="232D2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1691640"/>
            <a:ext cx="73152" cy="4572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KOLIZJE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43400" y="2286000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235915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Pocisk → zombie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07992" y="2651760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obrażenia + ew. efekt (spowolnienie, ogień)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3127248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32004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AoE → grupa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07992" y="3493008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obrażenia w promieniu trafienia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3968496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40416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→ brama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07992" y="4334256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życie bazy (brak walki ze strony zombi)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43400" y="4809744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7992" y="488289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Wieża → wieża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07992" y="5175504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można stawiać na zajętym polu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43400" y="5650992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572414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07992" y="6016752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blokada budowy poza wyznaczonymi slotami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solidFill>
            <a:srgbClr val="232D2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0" y="1691640"/>
            <a:ext cx="73152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94192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ZBIERANIE BONUSÓW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229600" y="2286000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94192" y="235915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losowy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394192" y="2651760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szansą 8% od każdego zabitego zombi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29600" y="3127248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94192" y="32004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Pojawia się na ścieżce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394192" y="3493008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pozostaje 6 sek. zanim zniknie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0" y="3968496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94192" y="40416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LPM na bonusie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394192" y="4334256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natychmiastowa aktywacja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29600" y="4809744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94192" y="488289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Auto-pickup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394192" y="5175504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waluta zbierana automatycznie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229600" y="5650992"/>
            <a:ext cx="3657600" cy="77724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94192" y="572414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Granat EMP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394192" y="6016752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globalnie po podniesieniu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ZONE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 funkcjonalności — część 1/2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 PODZIAŁ ZADAŃ ▸ MECHANIKA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solidFill>
            <a:srgbClr val="232D20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00784"/>
            <a:ext cx="201168" cy="201168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700784"/>
            <a:ext cx="201168" cy="20116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700784"/>
            <a:ext cx="201168" cy="20116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673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 osoby (funkcjonalność kluczowa)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1247120" cy="4572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mapy i ścieżki zombi (waypointy)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75520" y="2240280"/>
            <a:ext cx="1691640" cy="274320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Obie osoby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651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poruszania się zombi po wyznaczonej ścieżce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75520" y="2743200"/>
            <a:ext cx="1691640" cy="274320"/>
          </a:xfrm>
          <a:prstGeom prst="rect">
            <a:avLst/>
          </a:prstGeom>
          <a:solidFill>
            <a:srgbClr val="9CCC65">
              <a:alpha val="25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154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 4 typów zombi (Zwykły / Runner / Armored / Tank)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75520" y="3246120"/>
            <a:ext cx="1691640" cy="274320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Obie osoby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3657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fal (waves) — rosnąca trudność, liczność, mix typów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75520" y="3749040"/>
            <a:ext cx="1691640" cy="274320"/>
          </a:xfrm>
          <a:prstGeom prst="rect">
            <a:avLst/>
          </a:prstGeom>
          <a:solidFill>
            <a:srgbClr val="9CCC65">
              <a:alpha val="25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3749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Stawianie wieżyczek w wyznaczonych slotach (5 typów)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875520" y="4251960"/>
            <a:ext cx="1691640" cy="274320"/>
          </a:xfrm>
          <a:prstGeom prst="rect">
            <a:avLst/>
          </a:prstGeom>
          <a:solidFill>
            <a:srgbClr val="EF5350">
              <a:alpha val="2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63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80160" y="4663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strzelania wież: cel, zasięg, cooldown, pocisk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75520" y="4754880"/>
            <a:ext cx="1691640" cy="274320"/>
          </a:xfrm>
          <a:prstGeom prst="rect">
            <a:avLst/>
          </a:prstGeom>
          <a:solidFill>
            <a:srgbClr val="EF5350">
              <a:alpha val="2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0" y="4754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166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80160" y="5166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obrażeń, w tym AoE (rakiety) i DoT (miotacz ognia)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875520" y="5257800"/>
            <a:ext cx="1691640" cy="274320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0" y="5257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Obie osoby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5669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80160" y="5669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Ulepszanie i sprzedawanie wieżyczek (3 poziomy)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875520" y="5760720"/>
            <a:ext cx="1691640" cy="274320"/>
          </a:xfrm>
          <a:prstGeom prst="rect">
            <a:avLst/>
          </a:prstGeom>
          <a:solidFill>
            <a:srgbClr val="EF5350">
              <a:alpha val="2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0" y="5760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ZONE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 funkcjonalności — część 2/2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 PODZIAŁ ZADAŃ ▸ UI, ZAWARTOŚĆ, META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ekonomii (waluta za zabicia, koszty wież)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75520" y="1810512"/>
            <a:ext cx="1691640" cy="274320"/>
          </a:xfrm>
          <a:prstGeom prst="rect">
            <a:avLst/>
          </a:prstGeom>
          <a:solidFill>
            <a:srgbClr val="EF5350">
              <a:alpha val="2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Bonusy: drop, podnoszenie, efekty (amunicja / apteczka / EMP)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0" y="2359152"/>
            <a:ext cx="1691640" cy="274320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2359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Obie osoby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88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788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HUD: pasek życia bazy, waluta, numer fali, przyciski wież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75520" y="2907792"/>
            <a:ext cx="1691640" cy="274320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Obie osoby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11247120" cy="50292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337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główne, ekran pauzy, ekran przegranej / zwycięstwa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0" y="3456432"/>
            <a:ext cx="1691640" cy="274320"/>
          </a:xfrm>
          <a:prstGeom prst="rect">
            <a:avLst/>
          </a:prstGeom>
          <a:solidFill>
            <a:srgbClr val="9CCC65">
              <a:alpha val="25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3456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11247120" cy="50292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86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3886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najmniej 3 mapy o różnym układzie ścieżki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75520" y="4005072"/>
            <a:ext cx="1691640" cy="274320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0" y="4005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Obie osoby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11247120" cy="50292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34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Animacje zombi (chód, śmierć) i wież (strzał, obrót)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875520" y="4553712"/>
            <a:ext cx="1691640" cy="274320"/>
          </a:xfrm>
          <a:prstGeom prst="rect">
            <a:avLst/>
          </a:prstGeom>
          <a:solidFill>
            <a:srgbClr val="EF5350">
              <a:alpha val="2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0" y="4553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983480"/>
            <a:ext cx="11247120" cy="50292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983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4983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 dźwiękowe i muzyka w tle (ambient apokaliptyczny)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875520" y="5102352"/>
            <a:ext cx="1691640" cy="274320"/>
          </a:xfrm>
          <a:prstGeom prst="rect">
            <a:avLst/>
          </a:prstGeom>
          <a:solidFill>
            <a:srgbClr val="9CCC65">
              <a:alpha val="25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0" y="5102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solidFill>
            <a:srgbClr val="1A2218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532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280160" y="5532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Lokalny zapis najlepszych wyników (rekordy fal)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875520" y="5650992"/>
            <a:ext cx="1691640" cy="274320"/>
          </a:xfrm>
          <a:prstGeom prst="rect">
            <a:avLst/>
          </a:prstGeom>
          <a:solidFill>
            <a:srgbClr val="9CCC65">
              <a:alpha val="25000"/>
            </a:srgbClr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75520" y="5650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Osoba 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ŁĄCZNIE  </a:t>
            </a:r>
            <a:pPr algn="ctr" indent="0" marL="0">
              <a:buNone/>
            </a:pPr>
            <a:r>
              <a:rPr lang="en-US" sz="1200" b="1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funkcji   </a:t>
            </a:r>
            <a:pPr algn="ctr" indent="0" marL="0">
              <a:buNone/>
            </a:pPr>
            <a:r>
              <a:rPr lang="en-US" sz="12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Osoba 1: </a:t>
            </a:r>
            <a:pPr algn="ctr"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</a:t>
            </a:r>
            <a:pPr algn="ctr" indent="0" marL="0">
              <a:buNone/>
            </a:pPr>
            <a:r>
              <a:rPr lang="en-US" sz="12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Osoba 2: </a:t>
            </a:r>
            <a:pPr algn="ctr"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</a:t>
            </a:r>
            <a:pPr algn="ctr" indent="0" marL="0">
              <a:buNone/>
            </a:pPr>
            <a:r>
              <a:rPr lang="en-US" sz="12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Obie: </a:t>
            </a:r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ZONE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Makieta — menu główne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 WIREFRAME ▸ MAIN MENU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783080"/>
            <a:ext cx="6858000" cy="4572000"/>
          </a:xfrm>
          <a:prstGeom prst="rect">
            <a:avLst/>
          </a:prstGeom>
          <a:solidFill>
            <a:srgbClr val="1A2218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331720"/>
            <a:ext cx="6309360" cy="0"/>
          </a:xfrm>
          <a:prstGeom prst="line">
            <a:avLst/>
          </a:prstGeom>
          <a:noFill/>
          <a:ln w="12700">
            <a:solidFill>
              <a:srgbClr val="3A453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45920" y="5806440"/>
            <a:ext cx="6309360" cy="0"/>
          </a:xfrm>
          <a:prstGeom prst="line">
            <a:avLst/>
          </a:prstGeom>
          <a:noFill/>
          <a:ln w="12700">
            <a:solidFill>
              <a:srgbClr val="3A453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71600" y="2606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DEAD ZONE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 DEFENSE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3977640"/>
            <a:ext cx="2651760" cy="36576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E14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NOWA GRA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4434840"/>
            <a:ext cx="2651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WYBIERZ MAPĘ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4892040"/>
            <a:ext cx="2651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4892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REKORDY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5349240"/>
            <a:ext cx="2651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5349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USTAWIENIA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5806440"/>
            <a:ext cx="2651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WYJDŹ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OZNACZENIA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95360" y="2148840"/>
            <a:ext cx="347472" cy="34747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52560" y="2112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gry — duża czcionka, dominujący akcent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2697480"/>
            <a:ext cx="347472" cy="34747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/ gatunek — drobny tekst pod logo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95360" y="3246120"/>
            <a:ext cx="347472" cy="34747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52560" y="32095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Przycisk główny (Nowa gra) — wyróżniony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95360" y="3794760"/>
            <a:ext cx="347472" cy="34747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52560" y="3758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Przyciski drugorzędne — neutralne tło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95360" y="4343400"/>
            <a:ext cx="347472" cy="34747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52560" y="43068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Tło — ciemna scena z elementami sceny zombie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45920" y="2651760"/>
            <a:ext cx="320040" cy="320040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645920" y="3383280"/>
            <a:ext cx="320040" cy="320040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154680" y="4023360"/>
            <a:ext cx="320040" cy="320040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54680" y="4892040"/>
            <a:ext cx="320040" cy="320040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4892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26680" y="1965960"/>
            <a:ext cx="320040" cy="320040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2668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ZONE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Makieta — ekran rozgrywki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 WIREFRAME ▸ GAMEPLAY HUD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955280" cy="4754880"/>
          </a:xfrm>
          <a:prstGeom prst="rect">
            <a:avLst/>
          </a:prstGeom>
          <a:solidFill>
            <a:srgbClr val="1A2218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955280" cy="502920"/>
          </a:xfrm>
          <a:prstGeom prst="rect">
            <a:avLst/>
          </a:prstGeom>
          <a:solidFill>
            <a:srgbClr val="232D20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FALA  3 / 15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solidFill>
            <a:srgbClr val="5D4037">
              <a:alpha val="70000"/>
            </a:srgbClr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468880"/>
            <a:ext cx="457200" cy="2011680"/>
          </a:xfrm>
          <a:prstGeom prst="rect">
            <a:avLst/>
          </a:prstGeom>
          <a:solidFill>
            <a:srgbClr val="5D4037">
              <a:alpha val="70000"/>
            </a:srgbClr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4023360"/>
            <a:ext cx="3840480" cy="457200"/>
          </a:xfrm>
          <a:prstGeom prst="rect">
            <a:avLst/>
          </a:prstGeom>
          <a:solidFill>
            <a:srgbClr val="5D4037">
              <a:alpha val="70000"/>
            </a:srgbClr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4023360"/>
            <a:ext cx="457200" cy="1645920"/>
          </a:xfrm>
          <a:prstGeom prst="rect">
            <a:avLst/>
          </a:prstGeom>
          <a:solidFill>
            <a:srgbClr val="5D4037">
              <a:alpha val="70000"/>
            </a:srgbClr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5212080"/>
            <a:ext cx="2103120" cy="457200"/>
          </a:xfrm>
          <a:prstGeom prst="rect">
            <a:avLst/>
          </a:prstGeom>
          <a:solidFill>
            <a:srgbClr val="5D4037">
              <a:alpha val="70000"/>
            </a:srgbClr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68880"/>
            <a:ext cx="411480" cy="457200"/>
          </a:xfrm>
          <a:prstGeom prst="rect">
            <a:avLst/>
          </a:prstGeom>
          <a:solidFill>
            <a:srgbClr val="EF5350">
              <a:alpha val="6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0" y="5212080"/>
            <a:ext cx="502920" cy="457200"/>
          </a:xfrm>
          <a:prstGeom prst="rect">
            <a:avLst/>
          </a:prstGeom>
          <a:solidFill>
            <a:srgbClr val="9CCC65">
              <a:alpha val="70000"/>
            </a:srgbClr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5212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BAZA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80160" y="2606040"/>
            <a:ext cx="182880" cy="182880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2606040"/>
            <a:ext cx="182880" cy="182880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3383280"/>
            <a:ext cx="182880" cy="182880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4160520"/>
            <a:ext cx="182880" cy="182880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4160520"/>
            <a:ext cx="182880" cy="182880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4754880"/>
            <a:ext cx="182880" cy="182880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383280"/>
            <a:ext cx="365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371600" y="4480560"/>
            <a:ext cx="365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57600" y="2926080"/>
            <a:ext cx="365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754880" y="3291840"/>
            <a:ext cx="365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394960" y="4663440"/>
            <a:ext cx="365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675120" y="4663440"/>
            <a:ext cx="365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315200" y="3566160"/>
            <a:ext cx="365760" cy="365760"/>
          </a:xfrm>
          <a:prstGeom prst="rect">
            <a:avLst/>
          </a:prstGeom>
          <a:solidFill>
            <a:srgbClr val="232D20"/>
          </a:solidFill>
          <a:ln w="12700">
            <a:solidFill>
              <a:srgbClr val="9CCC65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371600" y="3383280"/>
            <a:ext cx="365760" cy="365760"/>
          </a:xfrm>
          <a:prstGeom prst="rect">
            <a:avLst/>
          </a:prstGeom>
          <a:solidFill>
            <a:srgbClr val="9CCC65">
              <a:alpha val="70000"/>
            </a:srgbClr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90472" y="3502152"/>
            <a:ext cx="128016" cy="128016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291840"/>
            <a:ext cx="365760" cy="365760"/>
          </a:xfrm>
          <a:prstGeom prst="rect">
            <a:avLst/>
          </a:prstGeom>
          <a:solidFill>
            <a:srgbClr val="9CCC65">
              <a:alpha val="70000"/>
            </a:srgbClr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410712"/>
            <a:ext cx="128016" cy="128016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4663440"/>
            <a:ext cx="365760" cy="365760"/>
          </a:xfrm>
          <a:prstGeom prst="rect">
            <a:avLst/>
          </a:prstGeom>
          <a:solidFill>
            <a:srgbClr val="9CCC65">
              <a:alpha val="70000"/>
            </a:srgbClr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13832" y="4782312"/>
            <a:ext cx="128016" cy="128016"/>
          </a:xfrm>
          <a:prstGeom prst="ellipse">
            <a:avLst/>
          </a:prstGeom>
          <a:solidFill>
            <a:srgbClr val="0E1410"/>
          </a:solidFill>
          <a:ln w="12700">
            <a:solidFill>
              <a:srgbClr val="0E14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669280"/>
            <a:ext cx="7955280" cy="777240"/>
          </a:xfrm>
          <a:prstGeom prst="rect">
            <a:avLst/>
          </a:prstGeom>
          <a:solidFill>
            <a:srgbClr val="232D20"/>
          </a:solidFill>
          <a:ln w="12700">
            <a:solidFill>
              <a:srgbClr val="3A4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5779008"/>
            <a:ext cx="777240" cy="548640"/>
          </a:xfrm>
          <a:prstGeom prst="rect">
            <a:avLst/>
          </a:prstGeom>
          <a:solidFill>
            <a:srgbClr val="1A2218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7790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6035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645920" y="5779008"/>
            <a:ext cx="777240" cy="548640"/>
          </a:xfrm>
          <a:prstGeom prst="rect">
            <a:avLst/>
          </a:prstGeom>
          <a:solidFill>
            <a:srgbClr val="1A2218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0" y="57790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645920" y="6035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0" y="5779008"/>
            <a:ext cx="777240" cy="548640"/>
          </a:xfrm>
          <a:prstGeom prst="rect">
            <a:avLst/>
          </a:prstGeom>
          <a:solidFill>
            <a:srgbClr val="1A2218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0" y="57790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60320" y="6035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$150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0" y="5779008"/>
            <a:ext cx="777240" cy="548640"/>
          </a:xfrm>
          <a:prstGeom prst="rect">
            <a:avLst/>
          </a:prstGeom>
          <a:solidFill>
            <a:srgbClr val="1A2218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57790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474720" y="6035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89120" y="5779008"/>
            <a:ext cx="777240" cy="548640"/>
          </a:xfrm>
          <a:prstGeom prst="rect">
            <a:avLst/>
          </a:prstGeom>
          <a:solidFill>
            <a:srgbClr val="1A2218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57790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SLW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389120" y="6035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0" y="5833872"/>
            <a:ext cx="1371600" cy="457200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5833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4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► START FALI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6868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OZNACZENIA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686800" y="2057400"/>
            <a:ext cx="329184" cy="329184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125712" y="20208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Górny HUD: życie bazy, waluta, numer fali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686800" y="2606040"/>
            <a:ext cx="329184" cy="329184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125712" y="2569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punkt wejścia zombie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686800" y="3154680"/>
            <a:ext cx="329184" cy="329184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125712" y="3118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— stała trasa, brak budowy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686800" y="3703320"/>
            <a:ext cx="329184" cy="329184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8680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125712" y="3666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Sloty (przerywana ramka) — puste miejsca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686800" y="4251960"/>
            <a:ext cx="329184" cy="329184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125712" y="4215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Postawione wieżyczki — pełna ramka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686800" y="4800600"/>
            <a:ext cx="329184" cy="329184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86800" y="4800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9125712" y="4764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— punkt końcowy (utrata życia)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686800" y="5349240"/>
            <a:ext cx="329184" cy="329184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0" y="5349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9125712" y="53126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Pasek wież + przycisk startu fali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270248" y="1783080"/>
            <a:ext cx="292608" cy="292608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70248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94360" y="2971800"/>
            <a:ext cx="292608" cy="292608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436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657600" y="3657600"/>
            <a:ext cx="292608" cy="292608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315200" y="3154680"/>
            <a:ext cx="292608" cy="292608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754880" y="2880360"/>
            <a:ext cx="292608" cy="292608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5488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360920" y="5257800"/>
            <a:ext cx="292608" cy="292608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6092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02920" y="5897880"/>
            <a:ext cx="292608" cy="292608"/>
          </a:xfrm>
          <a:prstGeom prst="ellipse">
            <a:avLst/>
          </a:prstGeom>
          <a:solidFill>
            <a:srgbClr val="0E1410"/>
          </a:solidFill>
          <a:ln w="25400">
            <a:solidFill>
              <a:srgbClr val="9CCC6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2920" y="5897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C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580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ZONE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 ZONE - Tower Defense</dc:title>
  <dc:subject>PptxGenJS Presentation</dc:subject>
  <dc:creator>Zespół projektowy</dc:creator>
  <cp:lastModifiedBy>Zespół projektowy</cp:lastModifiedBy>
  <cp:revision>1</cp:revision>
  <dcterms:created xsi:type="dcterms:W3CDTF">2026-05-12T08:55:10Z</dcterms:created>
  <dcterms:modified xsi:type="dcterms:W3CDTF">2026-05-12T08:55:10Z</dcterms:modified>
</cp:coreProperties>
</file>